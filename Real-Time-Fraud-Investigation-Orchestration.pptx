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Bitter Medium" panose="020B0604020202020204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466FF-B6D1-9C17-8602-FB3056EAC6CB}" v="54" dt="2026-03-23T14:42:42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47499-8EEA-4A5A-965D-C8A3661CDAD2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CCA57-C4BA-4560-94EA-D098258666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1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118180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Real-Time Fraud Investigation Orchestration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human-in-the-loop system combining live transaction streaming, agentic investigation with LangGraph, and ML-powered risk scoring for real-time fraud detection.</a:t>
            </a: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A4B79-EB9A-9AEE-A68C-262C22499818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300"/>
            <a:ext cx="5982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828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Backend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1772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for REST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LangGraph + LangChain (Gemini 2.5 Flash)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 for data manipulation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psycopg2 for Postgres access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06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 Components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01446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 model (if_model.joblib)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Heuristic rules engine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scaler and transformer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488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71833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React-based interface with live polling and investigation views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34F88-FAA6-1B5F-6835-3DE9D816267A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F339CEA-FE1F-5D18-DC0A-9016089F0C69}"/>
              </a:ext>
            </a:extLst>
          </p:cNvPr>
          <p:cNvSpPr/>
          <p:nvPr/>
        </p:nvSpPr>
        <p:spPr>
          <a:xfrm>
            <a:off x="793790" y="683300"/>
            <a:ext cx="5982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Bitter Medium"/>
                <a:ea typeface="Bitter Medium" pitchFamily="34" charset="-122"/>
                <a:cs typeface="Bitter Medium" pitchFamily="34" charset="-120"/>
              </a:rPr>
              <a:t>Architecture </a:t>
            </a:r>
            <a:endParaRPr lang="en-US" sz="4450">
              <a:latin typeface="Bitter Medium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775C7A6-B2FD-BA02-0FB5-50BCF10A629B}"/>
              </a:ext>
            </a:extLst>
          </p:cNvPr>
          <p:cNvSpPr/>
          <p:nvPr/>
        </p:nvSpPr>
        <p:spPr>
          <a:xfrm>
            <a:off x="793790" y="14828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2C3F42"/>
              </a:solidFill>
              <a:latin typeface="Bitter Medium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DD18194-7AF5-C184-3C1D-0FF2FECF876B}"/>
              </a:ext>
            </a:extLst>
          </p:cNvPr>
          <p:cNvSpPr/>
          <p:nvPr/>
        </p:nvSpPr>
        <p:spPr>
          <a:xfrm>
            <a:off x="793790" y="21772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30577A2-955F-C8DB-AC8C-605DCB1FABF0}"/>
              </a:ext>
            </a:extLst>
          </p:cNvPr>
          <p:cNvSpPr/>
          <p:nvPr/>
        </p:nvSpPr>
        <p:spPr>
          <a:xfrm>
            <a:off x="793790" y="4206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2C3F42"/>
              </a:solidFill>
              <a:latin typeface="Bitter Medium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45605C2-5585-8028-DBA0-D681DA3BFE1A}"/>
              </a:ext>
            </a:extLst>
          </p:cNvPr>
          <p:cNvSpPr/>
          <p:nvPr/>
        </p:nvSpPr>
        <p:spPr>
          <a:xfrm>
            <a:off x="793790" y="4901446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F1D201D-AD76-B048-C423-27636EAF296B}"/>
              </a:ext>
            </a:extLst>
          </p:cNvPr>
          <p:cNvSpPr/>
          <p:nvPr/>
        </p:nvSpPr>
        <p:spPr>
          <a:xfrm>
            <a:off x="793790" y="6488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2C3F42"/>
              </a:solidFill>
              <a:latin typeface="Bitter Medium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BBC25CA-800B-7D06-8A15-6A11F057E0BB}"/>
              </a:ext>
            </a:extLst>
          </p:cNvPr>
          <p:cNvSpPr/>
          <p:nvPr/>
        </p:nvSpPr>
        <p:spPr>
          <a:xfrm>
            <a:off x="793790" y="71833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9" name="Picture 18" descr="A diagram of a system&#10;&#10;AI-generated content may be incorrect.">
            <a:extLst>
              <a:ext uri="{FF2B5EF4-FFF2-40B4-BE49-F238E27FC236}">
                <a16:creationId xmlns:a16="http://schemas.microsoft.com/office/drawing/2014/main" id="{5035CB0E-1ED8-E252-402D-D32D920B2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54" y="851769"/>
            <a:ext cx="7327342" cy="70521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D1BCF2D-63E9-D0E0-CED9-D11CA9E3B293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3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Components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Postgres Data Store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core tables: live_transaction, transaction_history, watchlist, and monitoring_logs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 Scoring Engine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 with heuristic rules for real-time risk assessment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LangGraph Agents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Parallel agentic investigation with Historian, Network, Compliance, and Synthesizer nodes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React Frontend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monitoring dashboard with investigation workflows and decision logging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E0DAEC-A538-4813-37EE-D009551E030C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722" y="629126"/>
            <a:ext cx="4587121" cy="536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Flow Architecture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22" y="1424583"/>
            <a:ext cx="857726" cy="1029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84108" y="1596033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Live Transaction Pull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384108" y="1941790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polls GET /stream_transactions every 2 seconds, receiving 1–3 rows from live_transaction table with wrap-around logic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722" y="2453878"/>
            <a:ext cx="857726" cy="10292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84108" y="2625328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Investigate Trigger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384108" y="2971086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clicks "Investigate" button, initiating POST /investigate/{Transaction_ID} request to backend pipeline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722" y="3483173"/>
            <a:ext cx="857726" cy="10292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84108" y="3654623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Enrichment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2384108" y="4000381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lookup, velocity calculations, geo anomaly detection, and spend deviation analysis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6722" y="4512469"/>
            <a:ext cx="857726" cy="10292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84108" y="4683919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 + Rules Scoring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2384108" y="5029676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Fraud scorer combines Isolation Forest predictions with heuristic rules to generate risk metrics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722" y="5541764"/>
            <a:ext cx="857726" cy="10292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384108" y="5713214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Agentic Fan-Out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2384108" y="6058972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LLM agents execute in parallel, each assessing different risk dimensions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722" y="6571059"/>
            <a:ext cx="857726" cy="102929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384108" y="6742509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Decision Logging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2384108" y="7088267"/>
            <a:ext cx="10849570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decisions POST to /monitor_log, storing complete investigation payload for audit and analysis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2154C8-0614-F253-AA1B-CAB32979D7B4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10496"/>
            <a:ext cx="13042821" cy="1332428"/>
          </a:xfrm>
          <a:prstGeom prst="roundRect">
            <a:avLst>
              <a:gd name="adj" fmla="val 7150"/>
            </a:avLst>
          </a:prstGeom>
          <a:solidFill>
            <a:srgbClr val="FAD3B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1438870"/>
            <a:ext cx="708779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6197" y="1393984"/>
            <a:ext cx="7942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Agentic Investigation Pipeline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9807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053120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32274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Historian Agent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3717846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Compares transaction against user's historical behavior, identifying spending pattern deviations and unusual activity sequences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428548" y="269807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053120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1" name="Text 8"/>
          <p:cNvSpPr/>
          <p:nvPr/>
        </p:nvSpPr>
        <p:spPr>
          <a:xfrm>
            <a:off x="7428548" y="32274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Network Agent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28548" y="371784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shared IP addresses or destination accounts across multiple users, flagging potential mule account networks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2033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558433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5732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Compliance Agent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3790" y="622315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Assesses watchlist and sanctions list hits, identifying known bad actors or restricted entities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428548" y="520338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428548" y="5558433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9" name="Text 16"/>
          <p:cNvSpPr/>
          <p:nvPr/>
        </p:nvSpPr>
        <p:spPr>
          <a:xfrm>
            <a:off x="7428548" y="5732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Synthesizer Agent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28548" y="622315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Merges all agent statements into unified recommendation: Block, Escalate, or Clear transaction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C772F-EC62-7A47-4D5C-3AACDB4A41BA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677"/>
            <a:ext cx="7132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 Scoring Model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64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07575"/>
            <a:ext cx="4205168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amount and velocity (60-minute window)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anomaly detection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since last transaction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 deviation from mean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 and day-of-week patterns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8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Triggered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810131"/>
            <a:ext cx="420516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Watchlist IP/account matches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Banned country flags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Velocity spike detection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amount patterns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559981" y="26293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59981" y="3210520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 from if_model.joblib with fitted scaler transforms raw features into normalized inputs. Rules engine applies business logic thresholds in parallel.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559981" y="4526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Output Metrics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59981" y="5107186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Composite risk_score (0–100)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label categorization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scores A/B/C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Isolation Forest anomaly flag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A2750-1573-9FE3-C3C7-AD97C7A71EA7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1033939"/>
            <a:ext cx="6349127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Frontend User Experience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965002" y="2069782"/>
            <a:ext cx="22860" cy="5125879"/>
          </a:xfrm>
          <a:prstGeom prst="roundRect">
            <a:avLst>
              <a:gd name="adj" fmla="val 383376"/>
            </a:avLst>
          </a:prstGeom>
          <a:solidFill>
            <a:srgbClr val="E2C8B5"/>
          </a:solidFill>
          <a:ln/>
        </p:spPr>
      </p:sp>
      <p:sp>
        <p:nvSpPr>
          <p:cNvPr id="4" name="Shape 2"/>
          <p:cNvSpPr/>
          <p:nvPr/>
        </p:nvSpPr>
        <p:spPr>
          <a:xfrm>
            <a:off x="1176873" y="2293025"/>
            <a:ext cx="625912" cy="22860"/>
          </a:xfrm>
          <a:prstGeom prst="roundRect">
            <a:avLst>
              <a:gd name="adj" fmla="val 383376"/>
            </a:avLst>
          </a:prstGeom>
          <a:solidFill>
            <a:srgbClr val="E2C8B5"/>
          </a:solidFill>
          <a:ln/>
        </p:spPr>
      </p:sp>
      <p:sp>
        <p:nvSpPr>
          <p:cNvPr id="5" name="Shape 3"/>
          <p:cNvSpPr/>
          <p:nvPr/>
        </p:nvSpPr>
        <p:spPr>
          <a:xfrm>
            <a:off x="730270" y="2069782"/>
            <a:ext cx="469463" cy="46946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494" y="2108835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2008346" y="214145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Live Monitoring View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2008346" y="2582585"/>
            <a:ext cx="1189172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Streaming table of live transactions with "Investigate" buttons. Auto-refresh every 2 seconds via GET /stream_transactions endpoint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76873" y="3830717"/>
            <a:ext cx="625912" cy="22860"/>
          </a:xfrm>
          <a:prstGeom prst="roundRect">
            <a:avLst>
              <a:gd name="adj" fmla="val 383376"/>
            </a:avLst>
          </a:prstGeom>
          <a:solidFill>
            <a:srgbClr val="E2C8B5"/>
          </a:solidFill>
          <a:ln/>
        </p:spPr>
      </p:sp>
      <p:sp>
        <p:nvSpPr>
          <p:cNvPr id="10" name="Shape 8"/>
          <p:cNvSpPr/>
          <p:nvPr/>
        </p:nvSpPr>
        <p:spPr>
          <a:xfrm>
            <a:off x="730270" y="3607475"/>
            <a:ext cx="469463" cy="46946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494" y="3646527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2008346" y="3679150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Investigation Panel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2008346" y="4120277"/>
            <a:ext cx="1189172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details, three agent statements, final summary, risk score charts, triggered rules list, and latency metrics display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76873" y="5368409"/>
            <a:ext cx="625912" cy="22860"/>
          </a:xfrm>
          <a:prstGeom prst="roundRect">
            <a:avLst>
              <a:gd name="adj" fmla="val 383376"/>
            </a:avLst>
          </a:prstGeom>
          <a:solidFill>
            <a:srgbClr val="E2C8B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0270" y="5145167"/>
            <a:ext cx="469463" cy="46946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494" y="5184219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2008346" y="5216843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Decision Actions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2008346" y="5657969"/>
            <a:ext cx="11891724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action buttons: Block, Escalate, No Risk, Monitor. Each logs complete investigation state to monitoring_logs table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76873" y="6585585"/>
            <a:ext cx="625912" cy="22860"/>
          </a:xfrm>
          <a:prstGeom prst="roundRect">
            <a:avLst>
              <a:gd name="adj" fmla="val 383376"/>
            </a:avLst>
          </a:prstGeom>
          <a:solidFill>
            <a:srgbClr val="E2C8B5"/>
          </a:solidFill>
          <a:ln/>
        </p:spPr>
      </p:sp>
      <p:sp>
        <p:nvSpPr>
          <p:cNvPr id="20" name="Shape 18"/>
          <p:cNvSpPr/>
          <p:nvPr/>
        </p:nvSpPr>
        <p:spPr>
          <a:xfrm>
            <a:off x="730270" y="6362343"/>
            <a:ext cx="469463" cy="469463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494" y="6401395"/>
            <a:ext cx="312896" cy="39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2008346" y="6434018"/>
            <a:ext cx="260830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Monitored Logs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2008346" y="6875145"/>
            <a:ext cx="11891724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Read-only view of past decisions with "Open" to inspect stored payload and "Delete" to remove log from database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46BA6F-2DA8-7C8A-7974-2D45C48E1949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1279"/>
            <a:ext cx="71331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Features &amp; Capabilities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87368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1873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Real-Time Streaming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2364105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polling of live transaction feed with wrap-around logic ensures no transactions are missed during high-volume periods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187368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1873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Explainable Scoring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2364105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risk metrics show exactly which rules triggered and how ML model arrived at score, building investigator trust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9064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Audit Logging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396859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investigation payloads stored with human decisions, enabling full replay of investigation context and reasoning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906441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Agentic Fan-Out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396859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Parallel LLM agent execution reduces investigation latency while maintaining independence of assessment perspectives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939195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939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CORS Enabled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642961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CORS headers allow consumption by React or Streamlit frontends without proxy configuration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939195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939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JSON API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07348" y="6429613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JSON responses across all endpoints enable easy integration with monitoring tools and downstream systems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EE7450-C1F3-5DED-D413-746079C1D455}"/>
              </a:ext>
            </a:extLst>
          </p:cNvPr>
          <p:cNvSpPr/>
          <p:nvPr/>
        </p:nvSpPr>
        <p:spPr>
          <a:xfrm>
            <a:off x="12836039" y="7543692"/>
            <a:ext cx="1747314" cy="604839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32</cp:revision>
  <dcterms:created xsi:type="dcterms:W3CDTF">2026-03-23T14:24:02Z</dcterms:created>
  <dcterms:modified xsi:type="dcterms:W3CDTF">2026-03-23T14:54:30Z</dcterms:modified>
</cp:coreProperties>
</file>